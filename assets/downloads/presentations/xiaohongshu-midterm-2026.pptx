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浏览量</c:v>
                </c:pt>
              </c:strCache>
            </c:strRef>
          </c:tx>
          <c:spPr>
            <a:solidFill>
              <a:srgbClr val="FF244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四六级备考</c:v>
                </c:pt>
                <c:pt idx="1">
                  <c:v>Excel函数</c:v>
                </c:pt>
                <c:pt idx="2">
                  <c:v>Word技巧</c:v>
                </c:pt>
                <c:pt idx="3">
                  <c:v>网站/APP合集</c:v>
                </c:pt>
                <c:pt idx="4">
                  <c:v>PPT汇报技巧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294</c:v>
                </c:pt>
                <c:pt idx="1">
                  <c:v>121</c:v>
                </c:pt>
                <c:pt idx="2">
                  <c:v>95</c:v>
                </c:pt>
                <c:pt idx="3">
                  <c:v>15</c:v>
                </c:pt>
                <c:pt idx="4">
                  <c:v>22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Noto Sans CJK SC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Noto Sans CJK SC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29d52d8-e158-4404-86d4-59153e8602d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点赞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四六级备考</c:v>
                </c:pt>
                <c:pt idx="1">
                  <c:v>Excel函数</c:v>
                </c:pt>
                <c:pt idx="2">
                  <c:v>Word技巧</c:v>
                </c:pt>
                <c:pt idx="3">
                  <c:v>网站/APP合集</c:v>
                </c:pt>
                <c:pt idx="4">
                  <c:v>PPT汇报技巧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13</c:v>
                </c:pt>
                <c:pt idx="2">
                  <c:v>10</c:v>
                </c:pt>
                <c:pt idx="3">
                  <c:v>2</c:v>
                </c:pt>
                <c:pt idx="4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评论</c:v>
                </c:pt>
              </c:strCache>
            </c:strRef>
          </c:tx>
          <c:spPr>
            <a:solidFill>
              <a:srgbClr val="14B8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四六级备考</c:v>
                </c:pt>
                <c:pt idx="1">
                  <c:v>Excel函数</c:v>
                </c:pt>
                <c:pt idx="2">
                  <c:v>Word技巧</c:v>
                </c:pt>
                <c:pt idx="3">
                  <c:v>网站/APP合集</c:v>
                </c:pt>
                <c:pt idx="4">
                  <c:v>PPT汇报技巧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Noto Sans CJK SC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Noto Sans CJK SC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b17ba49-1bbf-46db-854c-b3a16bb39150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内容占比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FF2442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bubble3D val="0"/>
            <c:spPr>
              <a:solidFill>
                <a:srgbClr val="14B86A"/>
              </a:solidFill>
              <a:effectLst/>
            </c:spPr>
          </c:dPt>
          <c:dLbls>
            <c:dLbl>
              <c:idx val="0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9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9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9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9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Office技能</c:v>
                </c:pt>
                <c:pt idx="1">
                  <c:v>考试规划</c:v>
                </c:pt>
                <c:pt idx="2">
                  <c:v>网站/AI工具</c:v>
                </c:pt>
                <c:pt idx="3">
                  <c:v>模板资源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8fbfd4e-af2c-4211-930a-059e84e3e7a5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7"/>
          </a:solidFill>
          <a:ln w="12700">
            <a:solidFill>
              <a:srgbClr val="FF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2743200" cy="2103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小红书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运营账号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期中汇报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3657600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大学生学习效率工具号｜阶段复盘与下阶段规划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17720" y="1143000"/>
            <a:ext cx="201168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F0DDDF">
                <a:alpha val="9000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547</a:t>
            </a:r>
            <a:endParaRPr lang="en-US" sz="27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累计浏览</a:t>
            </a:r>
            <a:endParaRPr lang="en-US" sz="27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A9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5篇笔记统计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4526280" y="1143000"/>
            <a:ext cx="64008" cy="1325880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87210" y="1143000"/>
            <a:ext cx="201168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F0DDDF">
                <a:alpha val="9000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43</a:t>
            </a:r>
            <a:endParaRPr lang="en-US" sz="27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累计点赞</a:t>
            </a:r>
            <a:endParaRPr lang="en-US" sz="27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A9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点赞+评论共46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812280" y="1143000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74480" y="1143000"/>
            <a:ext cx="201168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F0DDDF">
                <a:alpha val="9000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8.41%</a:t>
            </a:r>
            <a:endParaRPr lang="en-US" sz="27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整体互动率</a:t>
            </a:r>
            <a:endParaRPr lang="en-US" sz="27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A9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互动/浏览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098280" y="1143000"/>
            <a:ext cx="64008" cy="1325880"/>
          </a:xfrm>
          <a:prstGeom prst="rect">
            <a:avLst/>
          </a:prstGeom>
          <a:solidFill>
            <a:srgbClr val="14B86A"/>
          </a:solidFill>
          <a:ln w="12700">
            <a:solidFill>
              <a:srgbClr val="14B8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745" y="3108960"/>
            <a:ext cx="6309360" cy="1051560"/>
          </a:xfrm>
          <a:prstGeom prst="rect">
            <a:avLst/>
          </a:prstGeom>
          <a:solidFill>
            <a:srgbClr val="FFFCFA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汇报核心问题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哪些内容带来曝光？哪些内容真正被认可？下一阶段如何从“发内容”转向“运营用户”？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17720" y="3182112"/>
            <a:ext cx="73152" cy="905256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580644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汇报人：李涛 </a:t>
            </a:r>
            <a:r>
              <a:rPr lang="zh-CN" alt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利伟明</a:t>
            </a: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｜   数据周期：2026.04.05 - 2026.05.12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小红书账号期中汇报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6350">
            <a:solidFill>
              <a:srgbClr val="E8DADB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A"/>
          </a:solidFill>
          <a:ln w="12700">
            <a:solidFill>
              <a:srgbClr val="FFFC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7955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汇报框架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051560"/>
            <a:ext cx="68580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本次复盘以账号定位、数据表现、内容诊断和后续规划为主线。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822960" cy="502920"/>
          </a:xfrm>
          <a:prstGeom prst="rect">
            <a:avLst/>
          </a:prstGeom>
          <a:solidFill>
            <a:srgbClr val="FFE5EA"/>
          </a:solidFill>
          <a:ln>
            <a:solidFill>
              <a:srgbClr val="FFE5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24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260604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账号定位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2999232"/>
            <a:ext cx="1600200" cy="7772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明确账号服务对象与内容价值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719072" y="2130552"/>
            <a:ext cx="1143000" cy="0"/>
          </a:xfrm>
          <a:prstGeom prst="line">
            <a:avLst/>
          </a:prstGeom>
          <a:noFill/>
          <a:ln w="16510">
            <a:solidFill>
              <a:srgbClr val="FF2442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999232" y="1874520"/>
            <a:ext cx="822960" cy="502920"/>
          </a:xfrm>
          <a:prstGeom prst="rect">
            <a:avLst/>
          </a:prstGeom>
          <a:solidFill>
            <a:srgbClr val="FFE5EA"/>
          </a:solidFill>
          <a:ln>
            <a:solidFill>
              <a:srgbClr val="FFE5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24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834640" y="260604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数据复盘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2999232"/>
            <a:ext cx="1600200" cy="7772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统计五篇笔记的浏览、点赞、评论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3986784" y="2130552"/>
            <a:ext cx="1143000" cy="0"/>
          </a:xfrm>
          <a:prstGeom prst="line">
            <a:avLst/>
          </a:prstGeom>
          <a:noFill/>
          <a:ln w="16510">
            <a:solidFill>
              <a:srgbClr val="FF2442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266944" y="1874520"/>
            <a:ext cx="822960" cy="502920"/>
          </a:xfrm>
          <a:prstGeom prst="rect">
            <a:avLst/>
          </a:prstGeom>
          <a:solidFill>
            <a:srgbClr val="FFE5EA"/>
          </a:solidFill>
          <a:ln>
            <a:solidFill>
              <a:srgbClr val="FFE5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24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102352" y="260604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内容诊断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9472" y="2999232"/>
            <a:ext cx="1600200" cy="7772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识别高曝光、高互动与低效内容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254496" y="2130552"/>
            <a:ext cx="1143000" cy="0"/>
          </a:xfrm>
          <a:prstGeom prst="line">
            <a:avLst/>
          </a:prstGeom>
          <a:noFill/>
          <a:ln w="16510">
            <a:solidFill>
              <a:srgbClr val="FF2442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534656" y="1874520"/>
            <a:ext cx="822960" cy="502920"/>
          </a:xfrm>
          <a:prstGeom prst="rect">
            <a:avLst/>
          </a:prstGeom>
          <a:solidFill>
            <a:srgbClr val="FFE5EA"/>
          </a:solidFill>
          <a:ln>
            <a:solidFill>
              <a:srgbClr val="FFE5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24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370064" y="260604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运营反思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87184" y="2999232"/>
            <a:ext cx="1600200" cy="7772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总结选题、标题、封面与互动问题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522208" y="2130552"/>
            <a:ext cx="1143000" cy="0"/>
          </a:xfrm>
          <a:prstGeom prst="line">
            <a:avLst/>
          </a:prstGeom>
          <a:noFill/>
          <a:ln w="16510">
            <a:solidFill>
              <a:srgbClr val="FF2442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802368" y="1874520"/>
            <a:ext cx="822960" cy="502920"/>
          </a:xfrm>
          <a:prstGeom prst="rect">
            <a:avLst/>
          </a:prstGeom>
          <a:solidFill>
            <a:srgbClr val="FFE5EA"/>
          </a:solidFill>
          <a:ln>
            <a:solidFill>
              <a:srgbClr val="FFE5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24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637776" y="260604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未来规划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54896" y="2999232"/>
            <a:ext cx="1600200" cy="7772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形成内容矩阵与月度执行节奏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1874520" y="4800600"/>
            <a:ext cx="8321040" cy="868680"/>
          </a:xfrm>
          <a:prstGeom prst="rect">
            <a:avLst/>
          </a:prstGeom>
          <a:solidFill>
            <a:srgbClr val="FFF1F3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汇报逻辑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先判断账号是否“做对方向”，再判断具体内容“哪里有效”，最后把经验转化为可执行的更新计划。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801495" y="4800727"/>
            <a:ext cx="73152" cy="722376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1052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小红书账号期中汇报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6350">
            <a:solidFill>
              <a:srgbClr val="E8DADB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7"/>
          </a:solidFill>
          <a:ln w="12700">
            <a:solidFill>
              <a:srgbClr val="FFF7F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7955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账号定位：大学生学习效率工具号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051560"/>
            <a:ext cx="68580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现有内容集中在学习办公技能、考试规划、工具资源与校园实用场景。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1508760"/>
            <a:ext cx="1097280" cy="301752"/>
          </a:xfrm>
          <a:prstGeom prst="rect">
            <a:avLst/>
          </a:prstGeom>
          <a:solidFill>
            <a:srgbClr val="FFE5EA"/>
          </a:solidFill>
          <a:ln>
            <a:solidFill>
              <a:srgbClr val="FFE5E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24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目标用户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80360" y="1508760"/>
            <a:ext cx="1097280" cy="301752"/>
          </a:xfrm>
          <a:prstGeom prst="rect">
            <a:avLst/>
          </a:prstGeom>
          <a:solidFill>
            <a:srgbClr val="FFF4CF"/>
          </a:solidFill>
          <a:ln>
            <a:solidFill>
              <a:srgbClr val="FFF4C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24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内容承诺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02352" y="1508760"/>
            <a:ext cx="1097280" cy="301752"/>
          </a:xfrm>
          <a:prstGeom prst="rect">
            <a:avLst/>
          </a:prstGeom>
          <a:solidFill>
            <a:srgbClr val="E9F8EF"/>
          </a:solidFill>
          <a:ln>
            <a:solidFill>
              <a:srgbClr val="E9F8E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24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视觉资产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938528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大学生群体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需要完成课堂汇报、论文排版、表格处理、考试准备等高频任务。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85343" y="2011680"/>
            <a:ext cx="73152" cy="1088136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1938528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457200" algn="l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解决具体问题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不做泛泛知识科普，重点提供可复制、可收藏、可立即使用的方法。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807335" y="2029460"/>
            <a:ext cx="73152" cy="10881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2352" y="1938528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手账感 + 猫咪IP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柔化工具类内容的枯燥感，形成学生向、轻量化、亲和的封面识别。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327" y="2011680"/>
            <a:ext cx="73152" cy="1088136"/>
          </a:xfrm>
          <a:prstGeom prst="rect">
            <a:avLst/>
          </a:prstGeom>
          <a:solidFill>
            <a:srgbClr val="14B86A"/>
          </a:solidFill>
          <a:ln w="12700">
            <a:solidFill>
              <a:srgbClr val="14B8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794760"/>
            <a:ext cx="6035040" cy="12344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核心方向：Office技能、考试规划、资料检索、模板资源
</a:t>
            </a:r>
            <a:r>
              <a:rPr lang="en-US" sz="132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价值关键词：省时间、少踩坑、可收藏、能直接用
</a:t>
            </a:r>
            <a:r>
              <a:rPr lang="en-US" sz="132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现阶段目标：验证选题有效性，形成稳定内容系列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8229600" y="12618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数据中心截图</a:t>
            </a:r>
            <a:endParaRPr lang="en-US" sz="1000" dirty="0"/>
          </a:p>
        </p:txBody>
      </p:sp>
      <p:pic>
        <p:nvPicPr>
          <p:cNvPr id="17" name="Image 0" descr="/mnt/data/IMG_9350.PNG"/>
          <p:cNvPicPr>
            <a:picLocks noChangeAspect="1"/>
          </p:cNvPicPr>
          <p:nvPr/>
        </p:nvPicPr>
        <p:blipFill>
          <a:blip r:embed="rId1"/>
          <a:srcRect l="2000" t="3000" r="-350" b="9000"/>
          <a:stretch>
            <a:fillRect/>
          </a:stretch>
        </p:blipFill>
        <p:spPr>
          <a:xfrm>
            <a:off x="7909560" y="1600200"/>
            <a:ext cx="2331720" cy="45262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726680" y="619963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仅统计近半年内笔记：5篇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2920" y="651052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小红书账号期中汇报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6350">
            <a:solidFill>
              <a:srgbClr val="E8DADB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A"/>
          </a:solidFill>
          <a:ln w="12700">
            <a:solidFill>
              <a:srgbClr val="FFFC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7955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阶段数据概览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051560"/>
            <a:ext cx="68580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五篇笔记合计547次浏览、43个点赞、3条评论，整体互动率约8.41%。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2057400" cy="1143000"/>
          </a:xfrm>
          <a:prstGeom prst="rect">
            <a:avLst/>
          </a:prstGeom>
          <a:solidFill>
            <a:srgbClr val="FFF1F3"/>
          </a:solidFill>
          <a:ln>
            <a:solidFill>
              <a:srgbClr val="F0DDDF">
                <a:alpha val="9000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5篇</a:t>
            </a:r>
            <a:endParaRPr lang="en-US" sz="27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发布笔记</a:t>
            </a:r>
            <a:endParaRPr lang="en-US" sz="27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A9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04.05-05.12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64008" cy="1143000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508760"/>
            <a:ext cx="20574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0DDDF">
                <a:alpha val="9000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547</a:t>
            </a:r>
            <a:endParaRPr lang="en-US" sz="27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总浏览量</a:t>
            </a:r>
            <a:endParaRPr lang="en-US" sz="27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A9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平均109/篇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2971800" y="1508760"/>
            <a:ext cx="64008" cy="114300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1508760"/>
            <a:ext cx="20574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0DDDF">
                <a:alpha val="9000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43</a:t>
            </a:r>
            <a:endParaRPr lang="en-US" sz="27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总点赞</a:t>
            </a:r>
            <a:endParaRPr lang="en-US" sz="27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A9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平均8.6/篇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257800" y="150876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1508760"/>
            <a:ext cx="20574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0DDDF">
                <a:alpha val="9000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27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总评论</a:t>
            </a:r>
            <a:endParaRPr lang="en-US" sz="27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A9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集中在PPT笔记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543800" y="1508760"/>
            <a:ext cx="64008" cy="1143000"/>
          </a:xfrm>
          <a:prstGeom prst="rect">
            <a:avLst/>
          </a:prstGeom>
          <a:solidFill>
            <a:srgbClr val="14B86A"/>
          </a:solidFill>
          <a:ln w="12700">
            <a:solidFill>
              <a:srgbClr val="14B8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29800" y="1508760"/>
            <a:ext cx="1691640" cy="1143000"/>
          </a:xfrm>
          <a:prstGeom prst="rect">
            <a:avLst/>
          </a:prstGeom>
          <a:solidFill>
            <a:srgbClr val="FFE5EA"/>
          </a:solidFill>
          <a:ln>
            <a:solidFill>
              <a:srgbClr val="F0DDDF">
                <a:alpha val="9000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8.41%</a:t>
            </a:r>
            <a:endParaRPr lang="en-US" sz="27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整体互动率</a:t>
            </a:r>
            <a:endParaRPr lang="en-US" sz="27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A9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点赞+评论 / 浏览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829800" y="1508760"/>
            <a:ext cx="64008" cy="1143000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154680"/>
            <a:ext cx="960120" cy="393192"/>
          </a:xfrm>
          <a:prstGeom prst="rect">
            <a:avLst/>
          </a:prstGeom>
          <a:solidFill>
            <a:srgbClr val="FFE5EA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24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日期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1746504" y="3154680"/>
            <a:ext cx="2834640" cy="393192"/>
          </a:xfrm>
          <a:prstGeom prst="rect">
            <a:avLst/>
          </a:prstGeom>
          <a:solidFill>
            <a:srgbClr val="FFE5EA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24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主题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4581144" y="3154680"/>
            <a:ext cx="1463040" cy="393192"/>
          </a:xfrm>
          <a:prstGeom prst="rect">
            <a:avLst/>
          </a:prstGeom>
          <a:solidFill>
            <a:srgbClr val="FFE5EA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24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浏览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6044184" y="3154680"/>
            <a:ext cx="1463040" cy="393192"/>
          </a:xfrm>
          <a:prstGeom prst="rect">
            <a:avLst/>
          </a:prstGeom>
          <a:solidFill>
            <a:srgbClr val="FFE5EA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24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点赞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7507224" y="3154680"/>
            <a:ext cx="1280160" cy="393192"/>
          </a:xfrm>
          <a:prstGeom prst="rect">
            <a:avLst/>
          </a:prstGeom>
          <a:solidFill>
            <a:srgbClr val="FFE5EA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24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评论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8787384" y="3154680"/>
            <a:ext cx="1691640" cy="393192"/>
          </a:xfrm>
          <a:prstGeom prst="rect">
            <a:avLst/>
          </a:prstGeom>
          <a:solidFill>
            <a:srgbClr val="FFE5EA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24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互动率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786384" y="3547872"/>
            <a:ext cx="9601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04-05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46504" y="3547872"/>
            <a:ext cx="2834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四六级备考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81144" y="3547872"/>
            <a:ext cx="1463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44184" y="3547872"/>
            <a:ext cx="1463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07224" y="3547872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87384" y="3547872"/>
            <a:ext cx="1691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2.38%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" y="3941064"/>
            <a:ext cx="9601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04-13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46504" y="3941064"/>
            <a:ext cx="2834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Excel函数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81144" y="3941064"/>
            <a:ext cx="1463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44184" y="3941064"/>
            <a:ext cx="1463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07224" y="3941064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787384" y="3941064"/>
            <a:ext cx="1691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10.74%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6384" y="4334256"/>
            <a:ext cx="9601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05-03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746504" y="4334256"/>
            <a:ext cx="2834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Word技巧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81144" y="4334256"/>
            <a:ext cx="1463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44184" y="4334256"/>
            <a:ext cx="1463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07224" y="4334256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787384" y="4334256"/>
            <a:ext cx="1691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10.53%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86384" y="4727448"/>
            <a:ext cx="9601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05-05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746504" y="4727448"/>
            <a:ext cx="2834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网站/APP合集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81144" y="4727448"/>
            <a:ext cx="1463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44184" y="4727448"/>
            <a:ext cx="1463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07224" y="4727448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787384" y="4727448"/>
            <a:ext cx="1691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13.33%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86384" y="5120640"/>
            <a:ext cx="9601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05-12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746504" y="5120640"/>
            <a:ext cx="2834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PPT汇报技巧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81144" y="5120640"/>
            <a:ext cx="1463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044184" y="5120640"/>
            <a:ext cx="1463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507224" y="5120640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787384" y="5120640"/>
            <a:ext cx="1691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BDD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63.64%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04672" y="5650992"/>
            <a:ext cx="8869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8F8F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注：互动率=（点赞+评论）/浏览量；PPT笔记发布时间较近，浏览量尚未充分积累。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502920" y="651052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小红书账号期中汇报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6350">
            <a:solidFill>
              <a:srgbClr val="E8DADB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7"/>
          </a:solidFill>
          <a:ln w="12700">
            <a:solidFill>
              <a:srgbClr val="FF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7955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单篇内容表现对比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051560"/>
            <a:ext cx="68580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考试类内容带来更高曝光，Office技能类内容体现更强认可度。</a:t>
            </a:r>
            <a:endParaRPr lang="en-US" sz="11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508760"/>
          <a:ext cx="562356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6537960" y="1508760"/>
          <a:ext cx="50749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1005840" y="5596128"/>
            <a:ext cx="9966960" cy="658368"/>
          </a:xfrm>
          <a:prstGeom prst="rect">
            <a:avLst/>
          </a:prstGeom>
          <a:solidFill>
            <a:srgbClr val="FFFCFA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数据判断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四六级备考浏览最高，但互动率最低；PPT汇报技巧浏览低但互动集中，说明“强场景+强痛点”的内容更容易激发用户反馈。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1051560" y="5669280"/>
            <a:ext cx="73152" cy="512064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651052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小红书账号期中汇报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6350">
            <a:solidFill>
              <a:srgbClr val="E8DADB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A"/>
          </a:solidFill>
          <a:ln w="12700">
            <a:solidFill>
              <a:srgbClr val="FFFC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7955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核心洞察一：曝光与认可并不等同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051560"/>
            <a:ext cx="68580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浏览量代表内容被看见，互动率更接近用户对内容“有用”的判断。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057400" y="5074920"/>
            <a:ext cx="786384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057400" y="1554480"/>
            <a:ext cx="0" cy="352044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325880" y="491947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曝光低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21240" y="491947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曝光高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138988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08760" y="530352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互动低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32520" y="4636008"/>
            <a:ext cx="822960" cy="329184"/>
          </a:xfrm>
          <a:prstGeom prst="rect">
            <a:avLst/>
          </a:prstGeom>
          <a:solidFill>
            <a:srgbClr val="E8F2FF"/>
          </a:solidFill>
          <a:ln>
            <a:solidFill>
              <a:srgbClr val="E8F2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四六级备考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503920" y="502920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D7D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高曝光 / 低互动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166360" y="4059936"/>
            <a:ext cx="822960" cy="329184"/>
          </a:xfrm>
          <a:prstGeom prst="rect">
            <a:avLst/>
          </a:prstGeom>
          <a:solidFill>
            <a:srgbClr val="FFF4CF"/>
          </a:solidFill>
          <a:ln>
            <a:solidFill>
              <a:srgbClr val="FFF4C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Excel函数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37760" y="445312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D7D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中曝光 / 中互动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566160" y="4087368"/>
            <a:ext cx="822960" cy="329184"/>
          </a:xfrm>
          <a:prstGeom prst="rect">
            <a:avLst/>
          </a:prstGeom>
          <a:solidFill>
            <a:srgbClr val="FFF4CF"/>
          </a:solidFill>
          <a:ln>
            <a:solidFill>
              <a:srgbClr val="FFF4C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Word技巧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37560" y="448056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D7D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中曝光 / 中互动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075688" y="3886200"/>
            <a:ext cx="822960" cy="329184"/>
          </a:xfrm>
          <a:prstGeom prst="rect">
            <a:avLst/>
          </a:prstGeom>
          <a:solidFill>
            <a:srgbClr val="E9F8EF"/>
          </a:solidFill>
          <a:ln>
            <a:solidFill>
              <a:srgbClr val="E9F8E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网站APP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847088" y="427939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D7D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低曝光 / 样本小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441448" y="1801368"/>
            <a:ext cx="822960" cy="329184"/>
          </a:xfrm>
          <a:prstGeom prst="rect">
            <a:avLst/>
          </a:prstGeom>
          <a:solidFill>
            <a:srgbClr val="FFE5EA"/>
          </a:solidFill>
          <a:ln>
            <a:solidFill>
              <a:srgbClr val="FFE5E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PPT技巧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212848" y="219456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D7D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低曝光 / 高互动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240280" y="5596128"/>
            <a:ext cx="7315200" cy="566928"/>
          </a:xfrm>
          <a:prstGeom prst="rect">
            <a:avLst/>
          </a:prstGeom>
          <a:solidFill>
            <a:srgbClr val="FFF1F3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运营启示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考试类选题适合获取流量；Office技能类选题适合沉淀认可；PPT类内容值得继续做系列化验证。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286000" y="5669280"/>
            <a:ext cx="73152" cy="420624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1052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小红书账号期中汇报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6350">
            <a:solidFill>
              <a:srgbClr val="E8DADB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7"/>
          </a:solidFill>
          <a:ln w="12700">
            <a:solidFill>
              <a:srgbClr val="FF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7955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核心洞察二：有效选题来自“场景化痛点”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051560"/>
            <a:ext cx="68580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工具型账号不能只罗列信息，而要从大学生具体任务出发组织内容。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1965960" cy="1234440"/>
          </a:xfrm>
          <a:prstGeom prst="rect">
            <a:avLst/>
          </a:prstGeom>
          <a:solidFill>
            <a:srgbClr val="FFE5EA"/>
          </a:solidFill>
          <a:ln>
            <a:solidFill>
              <a:srgbClr val="FFE5E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任务场景</a:t>
            </a:r>
            <a:endParaRPr lang="en-US" sz="16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期中汇报 / 论文排版 / 成绩统计 / 考试报名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0" y="2679192"/>
            <a:ext cx="685800" cy="0"/>
          </a:xfrm>
          <a:prstGeom prst="line">
            <a:avLst/>
          </a:prstGeom>
          <a:noFill/>
          <a:ln w="22860">
            <a:solidFill>
              <a:srgbClr val="FF2442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429000" y="2057400"/>
            <a:ext cx="1965960" cy="1234440"/>
          </a:xfrm>
          <a:prstGeom prst="rect">
            <a:avLst/>
          </a:prstGeom>
          <a:solidFill>
            <a:srgbClr val="FFF4CF"/>
          </a:solidFill>
          <a:ln>
            <a:solidFill>
              <a:srgbClr val="FFF4C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明确痛点</a:t>
            </a:r>
            <a:endParaRPr lang="en-US" sz="16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不会排版、不会找资料、效率低、怕错过报名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40680" y="2679192"/>
            <a:ext cx="685800" cy="0"/>
          </a:xfrm>
          <a:prstGeom prst="line">
            <a:avLst/>
          </a:prstGeom>
          <a:noFill/>
          <a:ln w="22860">
            <a:solidFill>
              <a:srgbClr val="FF2442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126480" y="2057400"/>
            <a:ext cx="1965960" cy="1234440"/>
          </a:xfrm>
          <a:prstGeom prst="rect">
            <a:avLst/>
          </a:prstGeom>
          <a:solidFill>
            <a:srgbClr val="E9F8EF"/>
          </a:solidFill>
          <a:ln>
            <a:solidFill>
              <a:srgbClr val="E9F8E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可用方法</a:t>
            </a:r>
            <a:endParaRPr lang="en-US" sz="16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步骤、模板、速查表、避坑清单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0" y="2679192"/>
            <a:ext cx="685800" cy="0"/>
          </a:xfrm>
          <a:prstGeom prst="line">
            <a:avLst/>
          </a:prstGeom>
          <a:noFill/>
          <a:ln w="22860">
            <a:solidFill>
              <a:srgbClr val="FF2442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823960" y="2057400"/>
            <a:ext cx="1965960" cy="1234440"/>
          </a:xfrm>
          <a:prstGeom prst="rect">
            <a:avLst/>
          </a:prstGeom>
          <a:solidFill>
            <a:srgbClr val="E8F2FF"/>
          </a:solidFill>
          <a:ln>
            <a:solidFill>
              <a:srgbClr val="E8F2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用户动作</a:t>
            </a:r>
            <a:endParaRPr lang="en-US" sz="16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点赞、收藏、评论领取、关注系列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44805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反面案例：泛化合集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“学生党必备网站/APP合集”竞争大、场景宽，用户难以判断它具体解决什么问题。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24255" y="4279392"/>
            <a:ext cx="73152" cy="7223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206240"/>
            <a:ext cx="44805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正面方向：具体任务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“期中汇报PPT别堆字”“论文排版5个Word功能”“Excel快速统计成绩”更容易形成代入。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27775" y="4279392"/>
            <a:ext cx="73152" cy="722376"/>
          </a:xfrm>
          <a:prstGeom prst="rect">
            <a:avLst/>
          </a:prstGeom>
          <a:solidFill>
            <a:srgbClr val="14B86A"/>
          </a:solidFill>
          <a:ln w="12700">
            <a:solidFill>
              <a:srgbClr val="14B8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1052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小红书账号期中汇报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6350">
            <a:solidFill>
              <a:srgbClr val="E8DADB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A"/>
          </a:solidFill>
          <a:ln w="12700">
            <a:solidFill>
              <a:srgbClr val="FFFC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7955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账号优势与现阶段问题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051560"/>
            <a:ext cx="68580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定位基本清晰，但仍需要稳定更新、系列化包装和互动转化设计。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24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已有优势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46304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24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主要问题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45262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 1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选题符合大学生刚需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039112"/>
            <a:ext cx="73152" cy="475488"/>
          </a:xfrm>
          <a:prstGeom prst="rect">
            <a:avLst/>
          </a:prstGeom>
          <a:solidFill>
            <a:srgbClr val="14B86A"/>
          </a:solidFill>
          <a:ln w="12700">
            <a:solidFill>
              <a:srgbClr val="14B8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88920"/>
            <a:ext cx="4526280" cy="621792"/>
          </a:xfrm>
          <a:prstGeom prst="rect">
            <a:avLst/>
          </a:prstGeom>
          <a:solidFill>
            <a:srgbClr val="FFF1F3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 2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工具型内容具备收藏潜力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2862072"/>
            <a:ext cx="73152" cy="475488"/>
          </a:xfrm>
          <a:prstGeom prst="rect">
            <a:avLst/>
          </a:prstGeom>
          <a:solidFill>
            <a:srgbClr val="14B86A"/>
          </a:solidFill>
          <a:ln w="12700">
            <a:solidFill>
              <a:srgbClr val="14B8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611880"/>
            <a:ext cx="45262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 3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封面风格有初步统一性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3685032"/>
            <a:ext cx="73152" cy="475488"/>
          </a:xfrm>
          <a:prstGeom prst="rect">
            <a:avLst/>
          </a:prstGeom>
          <a:solidFill>
            <a:srgbClr val="14B86A"/>
          </a:solidFill>
          <a:ln w="12700">
            <a:solidFill>
              <a:srgbClr val="14B8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434840"/>
            <a:ext cx="4526280" cy="621792"/>
          </a:xfrm>
          <a:prstGeom prst="rect">
            <a:avLst/>
          </a:prstGeom>
          <a:solidFill>
            <a:srgbClr val="FFF1F3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 4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考试流量与Office互动均被初步验证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" y="4507992"/>
            <a:ext cx="73152" cy="475488"/>
          </a:xfrm>
          <a:prstGeom prst="rect">
            <a:avLst/>
          </a:prstGeom>
          <a:solidFill>
            <a:srgbClr val="14B86A"/>
          </a:solidFill>
          <a:ln w="12700">
            <a:solidFill>
              <a:srgbClr val="14B8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965960"/>
            <a:ext cx="45262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 1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更新节奏不够稳定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46520" y="2039112"/>
            <a:ext cx="7315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788920"/>
            <a:ext cx="4526280" cy="621792"/>
          </a:xfrm>
          <a:prstGeom prst="rect">
            <a:avLst/>
          </a:prstGeom>
          <a:solidFill>
            <a:srgbClr val="FFF1F3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 2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栏目系列感尚未建立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46520" y="2862072"/>
            <a:ext cx="7315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611880"/>
            <a:ext cx="45262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 3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部分标题过宽泛，差异化不足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46520" y="3685032"/>
            <a:ext cx="7315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434840"/>
            <a:ext cx="4526280" cy="621792"/>
          </a:xfrm>
          <a:prstGeom prst="rect">
            <a:avLst/>
          </a:prstGeom>
          <a:solidFill>
            <a:srgbClr val="FFF1F3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 4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评论引导较弱，用户互动不足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46520" y="4507992"/>
            <a:ext cx="7315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1444752"/>
            <a:ext cx="0" cy="4251960"/>
          </a:xfrm>
          <a:prstGeom prst="line">
            <a:avLst/>
          </a:prstGeom>
          <a:noFill/>
          <a:ln w="12700">
            <a:solidFill>
              <a:srgbClr val="E7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1052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小红书账号期中汇报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6350">
            <a:solidFill>
              <a:srgbClr val="E8DADB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7"/>
          </a:solidFill>
          <a:ln w="12700">
            <a:solidFill>
              <a:srgbClr val="FF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7955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运营感想：内容不是堆信息，而是匹配需求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051560"/>
            <a:ext cx="68580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通过五篇笔记的测试，可以看到小红书运营更重视“需求强度”和“转化路径”。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3246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选题比包装更关键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四六级内容说明考试话题天然有流量，但只有流量不等于用户认可。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935" y="1764792"/>
            <a:ext cx="73152" cy="1088136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691640"/>
            <a:ext cx="3246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工具内容要服务具体场景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Excel、Word、PPT类内容的点赞率较稳定，说明“能解决问题”的内容更有长期价值。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07535" y="1764792"/>
            <a:ext cx="73152" cy="10881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1691640"/>
            <a:ext cx="3246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需要从发布转向运营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结尾设置评论关键词、下期投票、模板领取等动作，才能把用户反馈沉淀下来。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34655" y="1766062"/>
            <a:ext cx="73152" cy="1088136"/>
          </a:xfrm>
          <a:prstGeom prst="rect">
            <a:avLst/>
          </a:prstGeom>
          <a:solidFill>
            <a:srgbClr val="14B86A"/>
          </a:solidFill>
          <a:ln w="12700">
            <a:solidFill>
              <a:srgbClr val="14B8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4904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个人反思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187952"/>
            <a:ext cx="9875520" cy="10058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不能只追求封面好看，还要让用户一眼看懂“对我有什么用”。
</a:t>
            </a:r>
            <a:r>
              <a:rPr lang="en-US" sz="13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不能只做信息罗列，而要提供步骤、模板、速查表等可执行内容。
</a:t>
            </a:r>
            <a:r>
              <a:rPr lang="en-US" sz="1300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后续复盘不能只看浏览量，还要加入收藏、关注转化、主页访问等指标。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小红书账号期中汇报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6350">
            <a:solidFill>
              <a:srgbClr val="E8DADB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A"/>
          </a:solidFill>
          <a:ln w="12700">
            <a:solidFill>
              <a:srgbClr val="FFFC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7955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未来规划：形成四类内容矩阵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051560"/>
            <a:ext cx="68580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下一阶段将账号聚焦为“大学生学习效率工具号”，减少泛化合集，强化可收藏系列。</a:t>
            </a:r>
            <a:endParaRPr lang="en-US" sz="11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1600200"/>
          <a:ext cx="43891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623560" y="1508760"/>
            <a:ext cx="5760720" cy="749808"/>
          </a:xfrm>
          <a:prstGeom prst="rect">
            <a:avLst/>
          </a:prstGeom>
          <a:solidFill>
            <a:srgbClr val="FFE5EA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Office技能 40%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 / Word / Excel：围绕汇报、论文、表格统计持续做系列。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69280" y="1581912"/>
            <a:ext cx="73152" cy="603504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23560" y="2514600"/>
            <a:ext cx="5760720" cy="749808"/>
          </a:xfrm>
          <a:prstGeom prst="rect">
            <a:avLst/>
          </a:prstGeom>
          <a:solidFill>
            <a:srgbClr val="FFF4CF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考试规划 30%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四六级、普通话、计算机二级、教资：报名时间+流程+避坑。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69280" y="2587752"/>
            <a:ext cx="73152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23560" y="3520440"/>
            <a:ext cx="5760720" cy="749808"/>
          </a:xfrm>
          <a:prstGeom prst="rect">
            <a:avLst/>
          </a:prstGeom>
          <a:solidFill>
            <a:srgbClr val="E8F2FF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网站/AI工具 20%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按具体场景推荐：写论文、找素材、查资料、做PPT。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0" y="3593592"/>
            <a:ext cx="73152" cy="6035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23560" y="4526280"/>
            <a:ext cx="5760720" cy="749808"/>
          </a:xfrm>
          <a:prstGeom prst="rect">
            <a:avLst/>
          </a:prstGeom>
          <a:solidFill>
            <a:srgbClr val="E9F8EF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模板资源 10%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PPT模板、Excel表、论文格式清单、简历模板，提升收藏与关注。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669280" y="4599432"/>
            <a:ext cx="73152" cy="603504"/>
          </a:xfrm>
          <a:prstGeom prst="rect">
            <a:avLst/>
          </a:prstGeom>
          <a:solidFill>
            <a:srgbClr val="14B86A"/>
          </a:solidFill>
          <a:ln w="12700">
            <a:solidFill>
              <a:srgbClr val="14B8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5705856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内容占比为运营规划比例，后续需结合真实收藏率、评论率和关注转化率动态调整。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2920" y="651052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小红书账号期中汇报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6350">
            <a:solidFill>
              <a:srgbClr val="E8DADB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7"/>
          </a:solidFill>
          <a:ln w="12700">
            <a:solidFill>
              <a:srgbClr val="FF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7955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未来一个月执行计划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051560"/>
            <a:ext cx="68580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保持每周2-3篇更新，用四周完成一次“小样本快速测试”。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1005840" cy="329184"/>
          </a:xfrm>
          <a:prstGeom prst="rect">
            <a:avLst/>
          </a:prstGeom>
          <a:solidFill>
            <a:srgbClr val="FFE5EA"/>
          </a:solidFill>
          <a:ln>
            <a:solidFill>
              <a:srgbClr val="FFE5EA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24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PPT汇报系列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22402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B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6个汇报技巧 / 封面页排版 / 图文少堆字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17520" y="1993392"/>
            <a:ext cx="384048" cy="0"/>
          </a:xfrm>
          <a:prstGeom prst="line">
            <a:avLst/>
          </a:prstGeom>
          <a:noFill/>
          <a:ln w="15240">
            <a:solidFill>
              <a:srgbClr val="FF2442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502152" y="1828800"/>
            <a:ext cx="1005840" cy="329184"/>
          </a:xfrm>
          <a:prstGeom prst="rect">
            <a:avLst/>
          </a:prstGeom>
          <a:solidFill>
            <a:srgbClr val="FFE5EA"/>
          </a:solidFill>
          <a:ln>
            <a:solidFill>
              <a:srgbClr val="FFE5EA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24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第2周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02152" y="23317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Word论文排版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02152" y="2788920"/>
            <a:ext cx="22402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B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目录、页眉页脚、参考文献、格式避坑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33872" y="1993392"/>
            <a:ext cx="384048" cy="0"/>
          </a:xfrm>
          <a:prstGeom prst="line">
            <a:avLst/>
          </a:prstGeom>
          <a:noFill/>
          <a:ln w="15240">
            <a:solidFill>
              <a:srgbClr val="FF2442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318504" y="1828800"/>
            <a:ext cx="1005840" cy="329184"/>
          </a:xfrm>
          <a:prstGeom prst="rect">
            <a:avLst/>
          </a:prstGeom>
          <a:solidFill>
            <a:srgbClr val="FFE5EA"/>
          </a:solidFill>
          <a:ln>
            <a:solidFill>
              <a:srgbClr val="FFE5EA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24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第3周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18504" y="23317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Excel效率函数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18504" y="2788920"/>
            <a:ext cx="22402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B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20个学生常用函数 / 成绩统计表 / 数据清洗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50224" y="1993392"/>
            <a:ext cx="384048" cy="0"/>
          </a:xfrm>
          <a:prstGeom prst="line">
            <a:avLst/>
          </a:prstGeom>
          <a:noFill/>
          <a:ln w="15240">
            <a:solidFill>
              <a:srgbClr val="FF2442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134856" y="1828800"/>
            <a:ext cx="1005840" cy="329184"/>
          </a:xfrm>
          <a:prstGeom prst="rect">
            <a:avLst/>
          </a:prstGeom>
          <a:solidFill>
            <a:srgbClr val="FFE5EA"/>
          </a:solidFill>
          <a:ln>
            <a:solidFill>
              <a:srgbClr val="FFE5EA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24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第4周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34856" y="23317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考试与证书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34856" y="2788920"/>
            <a:ext cx="22402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B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四六级、普通话、教资、计算机二级报名指南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4754880"/>
            <a:ext cx="5074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每篇笔记固</a:t>
            </a: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a定优化动作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标题采用“人群+场景+结果”；封面只放一个核心卖点；文案结尾加入评论关键词或下期投票。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4070" y="4844542"/>
            <a:ext cx="73152" cy="722376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754880"/>
            <a:ext cx="49377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复盘新增指标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除浏览、点赞、评论外，补充收藏、转发、涨粉、主页访问与关注转化率，判断内容是否真正沉淀用户。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82055" y="4828032"/>
            <a:ext cx="73152" cy="722376"/>
          </a:xfrm>
          <a:prstGeom prst="rect">
            <a:avLst/>
          </a:prstGeom>
          <a:solidFill>
            <a:srgbClr val="14B86A"/>
          </a:solidFill>
          <a:ln w="12700">
            <a:solidFill>
              <a:srgbClr val="14B8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1052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小红书账号期中汇报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6350">
            <a:solidFill>
              <a:srgbClr val="E8DADB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A"/>
          </a:solidFill>
          <a:ln w="12700">
            <a:solidFill>
              <a:srgbClr val="FFFC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7724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期中总结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94944" y="1417320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从“发内容”进入“运营用户”的下一阶段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154680" cy="1234440"/>
          </a:xfrm>
          <a:prstGeom prst="rect">
            <a:avLst/>
          </a:prstGeom>
          <a:solidFill>
            <a:srgbClr val="FFF1F3"/>
          </a:solidFill>
          <a:ln>
            <a:solidFill>
              <a:srgbClr val="F0DDDF">
                <a:alpha val="9000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方向成立</a:t>
            </a:r>
            <a:endParaRPr lang="en-US" sz="27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阶段判断</a:t>
            </a:r>
            <a:endParaRPr lang="en-US" sz="27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A9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大学生学习效率需求明确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77240" y="2240280"/>
            <a:ext cx="64008" cy="1234440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8848" y="2240280"/>
            <a:ext cx="3154680" cy="1234440"/>
          </a:xfrm>
          <a:prstGeom prst="rect">
            <a:avLst/>
          </a:prstGeom>
          <a:solidFill>
            <a:srgbClr val="FFF4CF"/>
          </a:solidFill>
          <a:ln>
            <a:solidFill>
              <a:srgbClr val="F0DDDF">
                <a:alpha val="9000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PPT值得深挖</a:t>
            </a:r>
            <a:endParaRPr lang="en-US" sz="27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核心发现</a:t>
            </a:r>
            <a:endParaRPr lang="en-US" sz="27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A9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低浏览下有高互动潜力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4498848" y="224028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2240280"/>
            <a:ext cx="3154680" cy="1234440"/>
          </a:xfrm>
          <a:prstGeom prst="rect">
            <a:avLst/>
          </a:prstGeom>
          <a:solidFill>
            <a:srgbClr val="E9F8EF"/>
          </a:solidFill>
          <a:ln>
            <a:solidFill>
              <a:srgbClr val="F0DDDF">
                <a:alpha val="9000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系列化运营</a:t>
            </a:r>
            <a:endParaRPr lang="en-US" sz="27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下阶段目标</a:t>
            </a:r>
            <a:endParaRPr lang="en-US" sz="27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A9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稳定更新+强化转化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8229600" y="2240280"/>
            <a:ext cx="64008" cy="1234440"/>
          </a:xfrm>
          <a:prstGeom prst="rect">
            <a:avLst/>
          </a:prstGeom>
          <a:solidFill>
            <a:srgbClr val="14B86A"/>
          </a:solidFill>
          <a:ln w="12700">
            <a:solidFill>
              <a:srgbClr val="14B8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572000"/>
            <a:ext cx="9966960" cy="960120"/>
          </a:xfrm>
          <a:prstGeom prst="rect">
            <a:avLst/>
          </a:prstGeom>
          <a:solidFill>
            <a:srgbClr val="FFF7F7"/>
          </a:solidFill>
          <a:ln>
            <a:solidFill>
              <a:srgbClr val="E9DADA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一句话结论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当前账号定位已初步清晰。后续应围绕大学生高频任务做场景化内容，用Office技能与考试规划稳定输出，并通过评论引导、模板资源和系列栏目提升收藏与关注转化。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24255" y="4645152"/>
            <a:ext cx="73152" cy="813816"/>
          </a:xfrm>
          <a:prstGeom prst="rect">
            <a:avLst/>
          </a:prstGeom>
          <a:solidFill>
            <a:srgbClr val="FF2442"/>
          </a:solidFill>
          <a:ln w="12700">
            <a:solidFill>
              <a:srgbClr val="FF24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590702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24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小红书账号期中汇报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6350">
            <a:solidFill>
              <a:srgbClr val="E8DADB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2716</Words>
  <Application>WPS 演示</Application>
  <PresentationFormat>On-screen Show (16:9)</PresentationFormat>
  <Paragraphs>417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1" baseType="lpstr">
      <vt:lpstr>Arial</vt:lpstr>
      <vt:lpstr>宋体</vt:lpstr>
      <vt:lpstr>Wingdings</vt:lpstr>
      <vt:lpstr>Noto Sans CJK SC</vt:lpstr>
      <vt:lpstr>苹方-简</vt:lpstr>
      <vt:lpstr>Noto Sans CJK SC</vt:lpstr>
      <vt:lpstr>Noto Sans CJK SC</vt:lpstr>
      <vt:lpstr>Arial</vt:lpstr>
      <vt:lpstr>Noto Sans CJK SC</vt:lpstr>
      <vt:lpstr>微软雅黑</vt:lpstr>
      <vt:lpstr>汉仪旗黑</vt:lpstr>
      <vt:lpstr>宋体</vt:lpstr>
      <vt:lpstr>Arial Unicode MS</vt:lpstr>
      <vt:lpstr>等线</vt:lpstr>
      <vt:lpstr>汉仪中等线KW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小红书运营账号期中汇报</dc:title>
  <dc:creator>ChatGPT</dc:creator>
  <dc:subject>小红书运营账号期中汇报</dc:subject>
  <cp:lastModifiedBy>李涛</cp:lastModifiedBy>
  <cp:revision>2</cp:revision>
  <dcterms:created xsi:type="dcterms:W3CDTF">2026-05-12T13:49:17Z</dcterms:created>
  <dcterms:modified xsi:type="dcterms:W3CDTF">2026-05-12T13:49:17Z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C5F096F9F7C2234FDD2F036A78926BCF_42</vt:lpwstr>
  </property>
</Properties>
</file>